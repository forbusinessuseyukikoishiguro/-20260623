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非機能要件を最初に握る。『依存ゼロ』が今日の主役。なぜ単一ファイルかは配布・監査の容易さで説明。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ビルド系（placeholder注入）を図で。納品HTMLの第2scriptがエンジン本体なので、最悪そこから復元できる小ネタを添えると喜ばれる。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『全部入りを目指さない』が設計の肝。スライド種別をcover/section/cards/rows/qa/gridに絞った話を補足。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『描かないことで隠す』設計。受講生用ではansを空にするだけ。テスト(メタモルフィック)で受講生用⊆講師用を保証している点に触れる。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コントラストは相対輝度式で実測。AAをAAAと水増ししない正直さを強調。最も細いのは遠足しおりの見出し(3.15)と具体例。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メタモルフィックの実例：配色不変の関係がデザイン型で破れ→バグでなく仕様（色=内容）と切り分けた経緯を話すと刺さる。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自前OOXMLの現実的な注意点。質問が出やすいので時間を残す。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締め：再現プロンプト集と仕様書の場所を案内。質疑へ。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E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80960" y="4114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000000"/>
                </a:solidFill>
              </a:rPr>
              <a:t>🐰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48FB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技術勉強会 ・ 中堅向け 🛠️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3504" y="1325880"/>
            <a:ext cx="7955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依存ゼロでOOXMLを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自前生成する単一HTML設計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32461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C9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ZIP/CRC32/OOXML 手書き ・ 査読論文ベースのテスト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4069080"/>
            <a:ext cx="1737360" cy="502920"/>
          </a:xfrm>
          <a:prstGeom prst="roundRect">
            <a:avLst>
              <a:gd name="adj" fmla="val 49091"/>
            </a:avLst>
          </a:prstGeom>
          <a:solidFill>
            <a:srgbClr val="C2185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40690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中堅向け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14600" y="4069080"/>
            <a:ext cx="1828800" cy="502920"/>
          </a:xfrm>
          <a:prstGeom prst="roundRect">
            <a:avLst>
              <a:gd name="adj" fmla="val 49091"/>
            </a:avLst>
          </a:prstGeom>
          <a:solidFill>
            <a:srgbClr val="B8860B"/>
          </a:solidFill>
          <a:ln/>
        </p:spPr>
      </p:sp>
      <p:sp>
        <p:nvSpPr>
          <p:cNvPr id="9" name="Text 7"/>
          <p:cNvSpPr/>
          <p:nvPr/>
        </p:nvSpPr>
        <p:spPr>
          <a:xfrm>
            <a:off x="2514600" y="40690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講師用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218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設計目標 🎯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886200" cy="1371600"/>
          </a:xfrm>
          <a:prstGeom prst="roundRect">
            <a:avLst>
              <a:gd name="adj" fmla="val 6667"/>
            </a:avLst>
          </a:prstGeom>
          <a:solidFill>
            <a:srgbClr val="FBEFF3"/>
          </a:solidFill>
          <a:ln w="12700">
            <a:solidFill>
              <a:srgbClr val="EAD7DE"/>
            </a:solidFill>
            <a:prstDash val="solid"/>
          </a:ln>
          <a:effectLst>
            <a:outerShdw sx="100000" sy="100000" kx="0" ky="0" algn="bl" rotWithShape="0" blurRad="88900" dist="38100" dir="5400000">
              <a:srgbClr val="7A2E3F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04672" y="1655064"/>
            <a:ext cx="566928" cy="566928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6550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166420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単一・オフライン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508760" y="213055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1つの.htmlだけ。外部http参照ゼロ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417320"/>
            <a:ext cx="3886200" cy="1371600"/>
          </a:xfrm>
          <a:prstGeom prst="roundRect">
            <a:avLst>
              <a:gd name="adj" fmla="val 6667"/>
            </a:avLst>
          </a:prstGeom>
          <a:solidFill>
            <a:srgbClr val="FBEFF3"/>
          </a:solidFill>
          <a:ln w="12700">
            <a:solidFill>
              <a:srgbClr val="EAD7DE"/>
            </a:solidFill>
            <a:prstDash val="solid"/>
          </a:ln>
          <a:effectLst>
            <a:outerShdw sx="100000" sy="100000" kx="0" ky="0" algn="bl" rotWithShape="0" blurRad="88900" dist="38100" dir="5400000">
              <a:srgbClr val="7A2E3F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65192" y="1655064"/>
            <a:ext cx="566928" cy="566928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10" name="Text 8"/>
          <p:cNvSpPr/>
          <p:nvPr/>
        </p:nvSpPr>
        <p:spPr>
          <a:xfrm>
            <a:off x="4965192" y="16550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669280" y="166420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依存ゼロ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5669280" y="213055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.pptx/.docxをライブラリなしで生成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017520"/>
            <a:ext cx="3886200" cy="1371600"/>
          </a:xfrm>
          <a:prstGeom prst="roundRect">
            <a:avLst>
              <a:gd name="adj" fmla="val 6667"/>
            </a:avLst>
          </a:prstGeom>
          <a:solidFill>
            <a:srgbClr val="FBEFF3"/>
          </a:solidFill>
          <a:ln w="12700">
            <a:solidFill>
              <a:srgbClr val="EAD7DE"/>
            </a:solidFill>
            <a:prstDash val="solid"/>
          </a:ln>
          <a:effectLst>
            <a:outerShdw sx="100000" sy="100000" kx="0" ky="0" algn="bl" rotWithShape="0" blurRad="88900" dist="38100" dir="5400000">
              <a:srgbClr val="7A2E3F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" y="3255264"/>
            <a:ext cx="566928" cy="566928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32552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508760" y="326440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鍵はメモリのみ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508760" y="373075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鍵をファイルに残さない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09160" y="3017520"/>
            <a:ext cx="3886200" cy="1371600"/>
          </a:xfrm>
          <a:prstGeom prst="roundRect">
            <a:avLst>
              <a:gd name="adj" fmla="val 6667"/>
            </a:avLst>
          </a:prstGeom>
          <a:solidFill>
            <a:srgbClr val="FBEFF3"/>
          </a:solidFill>
          <a:ln w="12700">
            <a:solidFill>
              <a:srgbClr val="EAD7DE"/>
            </a:solidFill>
            <a:prstDash val="solid"/>
          </a:ln>
          <a:effectLst>
            <a:outerShdw sx="100000" sy="100000" kx="0" ky="0" algn="bl" rotWithShape="0" blurRad="88900" dist="38100" dir="5400000">
              <a:srgbClr val="7A2E3F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65192" y="3255264"/>
            <a:ext cx="566928" cy="566928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20" name="Text 18"/>
          <p:cNvSpPr/>
          <p:nvPr/>
        </p:nvSpPr>
        <p:spPr>
          <a:xfrm>
            <a:off x="4965192" y="32552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669280" y="326440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嘘をつかない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5669280" y="3730752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出典・結果を捏造しない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6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うさうさ研修工房 ・ v3.8 PRO ・ </a:t>
            </a:r>
            <a:pPr algn="r" indent="0" marL="0">
              <a:buNone/>
            </a:pPr>
            <a:r>
              <a:rPr lang="en-US" sz="900" b="1" dirty="0">
                <a:solidFill>
                  <a:srgbClr val="C218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講師用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218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アーキテクチャ 🧩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85800" y="1371600"/>
            <a:ext cx="77724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1つの.htmlに、本体スクリプト＋OOXMLエンジンの2ブロック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ビルドはプレースホルダ注入（画像base64・エンジンを差し込む）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state＋既定値(DEF/PAL_DEF)＋localStorageで永続化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6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うさうさ研修工房 ・ v3.8 PRO ・ </a:t>
            </a:r>
            <a:pPr algn="r" indent="0" marL="0">
              <a:buNone/>
            </a:pPr>
            <a:r>
              <a:rPr lang="en-US" sz="900" b="1" dirty="0">
                <a:solidFill>
                  <a:srgbClr val="C218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講師用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218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自前OOXML / ZIP 📦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85800" y="1371600"/>
            <a:ext cx="77724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.pptx/.docx＝ZIPで固めたXMLの束（ECMA-376）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ZIP(stored)とCRC32を手書き、最小限の正しいOOXMLを生成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16:9＝12192000×6858000 EMU、rect()/band()で配置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.docxは同じZIPエンジンを再利用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6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うさうさ研修工房 ・ v3.8 PRO ・ </a:t>
            </a:r>
            <a:pPr algn="r" indent="0" marL="0">
              <a:buNone/>
            </a:pPr>
            <a:r>
              <a:rPr lang="en-US" sz="900" b="1" dirty="0">
                <a:solidFill>
                  <a:srgbClr val="C218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講師用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218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受講生用/講師用の実装 🔀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886200" cy="2697480"/>
          </a:xfrm>
          <a:prstGeom prst="roundRect">
            <a:avLst>
              <a:gd name="adj" fmla="val 3390"/>
            </a:avLst>
          </a:prstGeom>
          <a:solidFill>
            <a:srgbClr val="FBEFF3"/>
          </a:solidFill>
          <a:ln w="12700">
            <a:solidFill>
              <a:srgbClr val="EAD7DE"/>
            </a:solidFill>
            <a:prstDash val="solid"/>
          </a:ln>
          <a:effectLst>
            <a:outerShdw sx="100000" sy="100000" kx="0" ky="0" algn="bl" rotWithShape="0" blurRad="88900" dist="38100" dir="5400000">
              <a:srgbClr val="7A2E3F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04672" y="1655064"/>
            <a:ext cx="566928" cy="566928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6550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🧱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08760" y="166420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qaレンダラ汎用化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3337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番号が数値→第N問、ラベル可変、ansが空なら解答ブロックを描かない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709160" y="1417320"/>
            <a:ext cx="3886200" cy="2697480"/>
          </a:xfrm>
          <a:prstGeom prst="roundRect">
            <a:avLst>
              <a:gd name="adj" fmla="val 3390"/>
            </a:avLst>
          </a:prstGeom>
          <a:solidFill>
            <a:srgbClr val="FBEFF3"/>
          </a:solidFill>
          <a:ln w="12700">
            <a:solidFill>
              <a:srgbClr val="EAD7DE"/>
            </a:solidFill>
            <a:prstDash val="solid"/>
          </a:ln>
          <a:effectLst>
            <a:outerShdw sx="100000" sy="100000" kx="0" ky="0" algn="bl" rotWithShape="0" blurRad="88900" dist="38100" dir="5400000">
              <a:srgbClr val="7A2E3F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65192" y="1655064"/>
            <a:ext cx="566928" cy="566928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10" name="Text 8"/>
          <p:cNvSpPr/>
          <p:nvPr/>
        </p:nvSpPr>
        <p:spPr>
          <a:xfrm>
            <a:off x="4965192" y="16550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🔁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669280" y="166420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1つで4役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4983480" y="2377440"/>
            <a:ext cx="3337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口頭試験・筆記・クイズ・WSを同じ描画で兼ねる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6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うさうさ研修工房 ・ v3.8 PRO ・ </a:t>
            </a:r>
            <a:pPr algn="r" indent="0" marL="0">
              <a:buNone/>
            </a:pPr>
            <a:r>
              <a:rPr lang="en-US" sz="900" b="1" dirty="0">
                <a:solidFill>
                  <a:srgbClr val="C218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講師用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218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配色設計と WCAG 🎨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85800" y="1371600"/>
            <a:ext cx="77724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HSL・色相環(類似±30/対照±150/補色180)・色彩トーン10種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WCAG 2.1で全17パレットを実測 → 本文はAA(4.5)達成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明度差で見分ける（色覚多様性に配慮：伊藤2012）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6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うさうさ研修工房 ・ v3.8 PRO ・ </a:t>
            </a:r>
            <a:pPr algn="r" indent="0" marL="0">
              <a:buNone/>
            </a:pPr>
            <a:r>
              <a:rPr lang="en-US" sz="900" b="1" dirty="0">
                <a:solidFill>
                  <a:srgbClr val="C218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講師用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218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テスト戦略 🔬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2499360" cy="2697480"/>
          </a:xfrm>
          <a:prstGeom prst="roundRect">
            <a:avLst>
              <a:gd name="adj" fmla="val 3659"/>
            </a:avLst>
          </a:prstGeom>
          <a:solidFill>
            <a:srgbClr val="FBEFF3"/>
          </a:solidFill>
          <a:ln w="12700">
            <a:solidFill>
              <a:srgbClr val="EAD7DE"/>
            </a:solidFill>
            <a:prstDash val="solid"/>
          </a:ln>
          <a:effectLst>
            <a:outerShdw sx="100000" sy="100000" kx="0" ky="0" algn="bl" rotWithShape="0" blurRad="88900" dist="38100" dir="5400000">
              <a:srgbClr val="7A2E3F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04672" y="1655064"/>
            <a:ext cx="566928" cy="566928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6550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🎲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08760" y="1664208"/>
            <a:ext cx="135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性質/ファズ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1950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敵対入力220回。落ちない・ZIP妥当・エスケープ漏れ0（Claessen&amp;Hughes 2000）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322320" y="1417320"/>
            <a:ext cx="2499360" cy="2697480"/>
          </a:xfrm>
          <a:prstGeom prst="roundRect">
            <a:avLst>
              <a:gd name="adj" fmla="val 3659"/>
            </a:avLst>
          </a:prstGeom>
          <a:solidFill>
            <a:srgbClr val="FBEFF3"/>
          </a:solidFill>
          <a:ln w="12700">
            <a:solidFill>
              <a:srgbClr val="EAD7DE"/>
            </a:solidFill>
            <a:prstDash val="solid"/>
          </a:ln>
          <a:effectLst>
            <a:outerShdw sx="100000" sy="100000" kx="0" ky="0" algn="bl" rotWithShape="0" blurRad="88900" dist="38100" dir="5400000">
              <a:srgbClr val="7A2E3F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78352" y="1655064"/>
            <a:ext cx="566928" cy="566928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10" name="Text 8"/>
          <p:cNvSpPr/>
          <p:nvPr/>
        </p:nvSpPr>
        <p:spPr>
          <a:xfrm>
            <a:off x="3578352" y="16550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🔗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282440" y="1664208"/>
            <a:ext cx="135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メタモルフィック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3596640" y="2377440"/>
            <a:ext cx="1950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設問+1→qa+1、受講生用⊆講師用 等の関係で検証（Chen 2018）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096000" y="1417320"/>
            <a:ext cx="2499360" cy="2697480"/>
          </a:xfrm>
          <a:prstGeom prst="roundRect">
            <a:avLst>
              <a:gd name="adj" fmla="val 3659"/>
            </a:avLst>
          </a:prstGeom>
          <a:solidFill>
            <a:srgbClr val="FBEFF3"/>
          </a:solidFill>
          <a:ln w="12700">
            <a:solidFill>
              <a:srgbClr val="EAD7DE"/>
            </a:solidFill>
            <a:prstDash val="solid"/>
          </a:ln>
          <a:effectLst>
            <a:outerShdw sx="100000" sy="100000" kx="0" ky="0" algn="bl" rotWithShape="0" blurRad="88900" dist="38100" dir="5400000">
              <a:srgbClr val="7A2E3F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52032" y="1655064"/>
            <a:ext cx="566928" cy="566928"/>
          </a:xfrm>
          <a:prstGeom prst="ellipse">
            <a:avLst/>
          </a:prstGeom>
          <a:solidFill>
            <a:srgbClr val="C2185B"/>
          </a:solidFill>
          <a:ln/>
        </p:spPr>
      </p:sp>
      <p:sp>
        <p:nvSpPr>
          <p:cNvPr id="15" name="Text 13"/>
          <p:cNvSpPr/>
          <p:nvPr/>
        </p:nvSpPr>
        <p:spPr>
          <a:xfrm>
            <a:off x="6352032" y="16550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♻️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056120" y="1664208"/>
            <a:ext cx="135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決定性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370320" y="2377440"/>
            <a:ext cx="1950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同一入力→バイト一致。再現ビルド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6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うさうさ研修工房 ・ v3.8 PRO ・ </a:t>
            </a:r>
            <a:pPr algn="r" indent="0" marL="0">
              <a:buNone/>
            </a:pPr>
            <a:r>
              <a:rPr lang="en-US" sz="900" b="1" dirty="0">
                <a:solidFill>
                  <a:srgbClr val="C218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講師用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218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落とし穴と学び 🧯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85800" y="1371600"/>
            <a:ext cx="77724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XMLエスケープは一箇所に集約し、ファズで漏れを確認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非決定要因を入れない（再現ビルド＝バイト一致）</a:t>
            </a:r>
            <a:endParaRPr lang="en-US" sz="17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3A2E3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LibreOfficeは実機の代理。最後は本物のPowerPoint/Wordで目視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6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うさうさ研修工房 ・ v3.8 PRO ・ </a:t>
            </a:r>
            <a:pPr algn="r" indent="0" marL="0">
              <a:buNone/>
            </a:pPr>
            <a:r>
              <a:rPr lang="en-US" sz="900" b="1" dirty="0">
                <a:solidFill>
                  <a:srgbClr val="C218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講師用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5E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まとめ＋参考文献 📚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76809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1D7D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制約(単一/オフライン/依存ゼロ)が設計をシンプルにした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1D7D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メタモルフィック＋WCAGは自作ツールの品質を客観化する</a:t>
            </a:r>
            <a:endParaRPr lang="en-US" sz="16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1D7D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参考: Chen+2018 / Claessen&amp;Hughes 2000 / 伊藤2012 / WCAG 2.1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39776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48FB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面白きこともなき世を面白く。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0" y="39319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🐰 うさうさ先生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技術勉強会 中堅向け 講師用</dc:title>
  <dc:subject>PptxGenJS Presentation</dc:subject>
  <dc:creator>うさうさ研修工房</dc:creator>
  <cp:lastModifiedBy>うさうさ研修工房</cp:lastModifiedBy>
  <cp:revision>1</cp:revision>
  <dcterms:created xsi:type="dcterms:W3CDTF">2026-06-23T01:09:19Z</dcterms:created>
  <dcterms:modified xsi:type="dcterms:W3CDTF">2026-06-23T01:09:19Z</dcterms:modified>
</cp:coreProperties>
</file>