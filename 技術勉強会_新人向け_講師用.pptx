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つかみ：1分。研修中の小さな困りごと（答えの管理・形式そろえ・色）を挙げてもらうと入りやすい。ゴールは3つだけと宣言する。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デモがあれば実物を1分見せる。『インストール不要』は新人にとって最大の利点。質問例：社内のどのPCでも動く？→はい、ファイル1つです。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ラーメン店のたとえ：屋台ごと持ち運べて、どこでも同じ味。オフラインの安心感を強調。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ここは流れだけ伝える。技術詳細は中堅向けで。たとえ：注文→調理→提供→お持ち帰り。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『答えを2ファイルで管理しなくていい』が刺さりどころ。配布前に受講生用へ切り替える運用を必ず伝える。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色覚は人によって違う。色だけに頼らない、明度差をつける、を一言。難しい数式は出さない。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テストの考え方をやさしく。『正解を全部用意しなくても検証できる』が新人には驚き。深掘りは中堅向け資料へ誘導。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締め：今日のゴール3つを振り返る。次アクション『1枚作ってみる』を宿題に。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4114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🐰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48FB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技術勉強会 ・ 新人向け 🌱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1325880"/>
            <a:ext cx="7955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オフラインで動く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研修教材ツールを作った話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C9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単一HTML / 通信なし / .pptx・.docx まで自前生成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06908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C2185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069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新人向け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14600" y="406908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B8860B"/>
          </a:solidFill>
          <a:ln/>
        </p:spPr>
      </p:sp>
      <p:sp>
        <p:nvSpPr>
          <p:cNvPr id="9" name="Text 7"/>
          <p:cNvSpPr/>
          <p:nvPr/>
        </p:nvSpPr>
        <p:spPr>
          <a:xfrm>
            <a:off x="2514600" y="4069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講師用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今日のゴール 🎯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499360" cy="2697480"/>
          </a:xfrm>
          <a:prstGeom prst="roundRect">
            <a:avLst>
              <a:gd name="adj" fmla="val 3659"/>
            </a:avLst>
          </a:prstGeom>
          <a:solidFill>
            <a:srgbClr val="FBEFF3"/>
          </a:solidFill>
          <a:ln w="12700">
            <a:solidFill>
              <a:srgbClr val="EAD7DE"/>
            </a:solidFill>
            <a:prstDash val="solid"/>
          </a:ln>
          <a:effectLst>
            <a:outerShdw sx="100000" sy="100000" kx="0" ky="0" algn="bl" rotWithShape="0" blurRad="88900" dist="38100" dir="5400000">
              <a:srgbClr val="7A2E3F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655064"/>
            <a:ext cx="566928" cy="566928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55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1664208"/>
            <a:ext cx="135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何を作ったか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1950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単一HTMLの教材ジェネレーターの全体像をつかむ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322320" y="1417320"/>
            <a:ext cx="2499360" cy="2697480"/>
          </a:xfrm>
          <a:prstGeom prst="roundRect">
            <a:avLst>
              <a:gd name="adj" fmla="val 3659"/>
            </a:avLst>
          </a:prstGeom>
          <a:solidFill>
            <a:srgbClr val="FBEFF3"/>
          </a:solidFill>
          <a:ln w="12700">
            <a:solidFill>
              <a:srgbClr val="EAD7DE"/>
            </a:solidFill>
            <a:prstDash val="solid"/>
          </a:ln>
          <a:effectLst>
            <a:outerShdw sx="100000" sy="100000" kx="0" ky="0" algn="bl" rotWithShape="0" blurRad="88900" dist="38100" dir="5400000">
              <a:srgbClr val="7A2E3F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78352" y="1655064"/>
            <a:ext cx="566928" cy="566928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0" name="Text 8"/>
          <p:cNvSpPr/>
          <p:nvPr/>
        </p:nvSpPr>
        <p:spPr>
          <a:xfrm>
            <a:off x="3578352" y="1655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282440" y="1664208"/>
            <a:ext cx="135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なぜオフライン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596640" y="2377440"/>
            <a:ext cx="1950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持ち運び・通信なし・安心の理由を知る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96000" y="1417320"/>
            <a:ext cx="2499360" cy="2697480"/>
          </a:xfrm>
          <a:prstGeom prst="roundRect">
            <a:avLst>
              <a:gd name="adj" fmla="val 3659"/>
            </a:avLst>
          </a:prstGeom>
          <a:solidFill>
            <a:srgbClr val="FBEFF3"/>
          </a:solidFill>
          <a:ln w="12700">
            <a:solidFill>
              <a:srgbClr val="EAD7DE"/>
            </a:solidFill>
            <a:prstDash val="solid"/>
          </a:ln>
          <a:effectLst>
            <a:outerShdw sx="100000" sy="100000" kx="0" ky="0" algn="bl" rotWithShape="0" blurRad="88900" dist="38100" dir="5400000">
              <a:srgbClr val="7A2E3F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52032" y="1655064"/>
            <a:ext cx="566928" cy="566928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5" name="Text 13"/>
          <p:cNvSpPr/>
          <p:nvPr/>
        </p:nvSpPr>
        <p:spPr>
          <a:xfrm>
            <a:off x="6352032" y="1655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056120" y="1664208"/>
            <a:ext cx="135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品質の守り方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370320" y="2377440"/>
            <a:ext cx="1950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色とテストで“見やすさ・こわれにくさ”を担保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6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 ・ v3.8 PRO ・ </a:t>
            </a:r>
            <a:pPr algn="r" indent="0" marL="0">
              <a:buNone/>
            </a:pPr>
            <a:r>
              <a:rPr lang="en-US" sz="9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講師用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何を作った？ 🛠️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7772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12種類の教材を、入力するとその場で生成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スライド(.pptx)も配布物(.docx)も書き出せる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受講生用／講師用を切り替えられる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ぜんぶ1つの .html だけ（インストール不要）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6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 ・ v3.8 PRO ・ </a:t>
            </a:r>
            <a:pPr algn="r" indent="0" marL="0">
              <a:buNone/>
            </a:pPr>
            <a:r>
              <a:rPr lang="en-US" sz="9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講師用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なぜ単一HTML・オフライン？ 🧳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499360" cy="2697480"/>
          </a:xfrm>
          <a:prstGeom prst="roundRect">
            <a:avLst>
              <a:gd name="adj" fmla="val 3659"/>
            </a:avLst>
          </a:prstGeom>
          <a:solidFill>
            <a:srgbClr val="FBEFF3"/>
          </a:solidFill>
          <a:ln w="12700">
            <a:solidFill>
              <a:srgbClr val="EAD7DE"/>
            </a:solidFill>
            <a:prstDash val="solid"/>
          </a:ln>
          <a:effectLst>
            <a:outerShdw sx="100000" sy="100000" kx="0" ky="0" algn="bl" rotWithShape="0" blurRad="88900" dist="38100" dir="5400000">
              <a:srgbClr val="7A2E3F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655064"/>
            <a:ext cx="566928" cy="566928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55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🧳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664208"/>
            <a:ext cx="135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持ち運べる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1950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ファイル1つ。USBでもメールでも配れる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322320" y="1417320"/>
            <a:ext cx="2499360" cy="2697480"/>
          </a:xfrm>
          <a:prstGeom prst="roundRect">
            <a:avLst>
              <a:gd name="adj" fmla="val 3659"/>
            </a:avLst>
          </a:prstGeom>
          <a:solidFill>
            <a:srgbClr val="FBEFF3"/>
          </a:solidFill>
          <a:ln w="12700">
            <a:solidFill>
              <a:srgbClr val="EAD7DE"/>
            </a:solidFill>
            <a:prstDash val="solid"/>
          </a:ln>
          <a:effectLst>
            <a:outerShdw sx="100000" sy="100000" kx="0" ky="0" algn="bl" rotWithShape="0" blurRad="88900" dist="38100" dir="5400000">
              <a:srgbClr val="7A2E3F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78352" y="1655064"/>
            <a:ext cx="566928" cy="566928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0" name="Text 8"/>
          <p:cNvSpPr/>
          <p:nvPr/>
        </p:nvSpPr>
        <p:spPr>
          <a:xfrm>
            <a:off x="3578352" y="1655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82440" y="1664208"/>
            <a:ext cx="135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通信なし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596640" y="2377440"/>
            <a:ext cx="1950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ネットや権限に左右されず研修室で動く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96000" y="1417320"/>
            <a:ext cx="2499360" cy="2697480"/>
          </a:xfrm>
          <a:prstGeom prst="roundRect">
            <a:avLst>
              <a:gd name="adj" fmla="val 3659"/>
            </a:avLst>
          </a:prstGeom>
          <a:solidFill>
            <a:srgbClr val="FBEFF3"/>
          </a:solidFill>
          <a:ln w="12700">
            <a:solidFill>
              <a:srgbClr val="EAD7DE"/>
            </a:solidFill>
            <a:prstDash val="solid"/>
          </a:ln>
          <a:effectLst>
            <a:outerShdw sx="100000" sy="100000" kx="0" ky="0" algn="bl" rotWithShape="0" blurRad="88900" dist="38100" dir="5400000">
              <a:srgbClr val="7A2E3F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52032" y="1655064"/>
            <a:ext cx="566928" cy="566928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5" name="Text 13"/>
          <p:cNvSpPr/>
          <p:nvPr/>
        </p:nvSpPr>
        <p:spPr>
          <a:xfrm>
            <a:off x="6352032" y="1655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56120" y="1664208"/>
            <a:ext cx="135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安心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370320" y="2377440"/>
            <a:ext cx="1950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データを外に送らない。鍵も使わない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6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 ・ v3.8 PRO ・ </a:t>
            </a:r>
            <a:pPr algn="r" indent="0" marL="0">
              <a:buNone/>
            </a:pPr>
            <a:r>
              <a:rPr lang="en-US" sz="9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講師用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仕組みはシンプル ⚙️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7772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 → 組み立て → プレビュー → 書き出し、の一本道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人物はぜんぶ「うさぎ先生」に統一して親しみやすく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入力や配色は自動で保存され、次回も残る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6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 ・ v3.8 PRO ・ </a:t>
            </a:r>
            <a:pPr algn="r" indent="0" marL="0">
              <a:buNone/>
            </a:pPr>
            <a:r>
              <a:rPr lang="en-US" sz="9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講師用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受講生用と講師用 👩‍🎓🧑‍🏫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886200" cy="2697480"/>
          </a:xfrm>
          <a:prstGeom prst="roundRect">
            <a:avLst>
              <a:gd name="adj" fmla="val 3390"/>
            </a:avLst>
          </a:prstGeom>
          <a:solidFill>
            <a:srgbClr val="FBEFF3"/>
          </a:solidFill>
          <a:ln w="12700">
            <a:solidFill>
              <a:srgbClr val="EAD7DE"/>
            </a:solidFill>
            <a:prstDash val="solid"/>
          </a:ln>
          <a:effectLst>
            <a:outerShdw sx="100000" sy="100000" kx="0" ky="0" algn="bl" rotWithShape="0" blurRad="88900" dist="38100" dir="5400000">
              <a:srgbClr val="7A2E3F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655064"/>
            <a:ext cx="566928" cy="566928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55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6642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受講生用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337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問題とヒントだけ。答えは自動で隠れる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3886200" cy="2697480"/>
          </a:xfrm>
          <a:prstGeom prst="roundRect">
            <a:avLst>
              <a:gd name="adj" fmla="val 3390"/>
            </a:avLst>
          </a:prstGeom>
          <a:solidFill>
            <a:srgbClr val="FBEFF3"/>
          </a:solidFill>
          <a:ln w="12700">
            <a:solidFill>
              <a:srgbClr val="EAD7DE"/>
            </a:solidFill>
            <a:prstDash val="solid"/>
          </a:ln>
          <a:effectLst>
            <a:outerShdw sx="100000" sy="100000" kx="0" ky="0" algn="bl" rotWithShape="0" blurRad="88900" dist="38100" dir="5400000">
              <a:srgbClr val="7A2E3F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65192" y="1655064"/>
            <a:ext cx="566928" cy="566928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0" name="Text 8"/>
          <p:cNvSpPr/>
          <p:nvPr/>
        </p:nvSpPr>
        <p:spPr>
          <a:xfrm>
            <a:off x="4965192" y="1655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🧑‍🏫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669280" y="16642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講師用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983480" y="2377440"/>
            <a:ext cx="3337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答えつき。配る前にトグルを切り替えるだけ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6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 ・ v3.8 PRO ・ </a:t>
            </a:r>
            <a:pPr algn="r" indent="0" marL="0">
              <a:buNone/>
            </a:pPr>
            <a:r>
              <a:rPr lang="en-US" sz="9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講師用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見やすい色の選び方 🎨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7772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「秘密のパレット」で色を直感的に選べる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本文と背景のコントラストを基準(4.5:1)で確認済み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色だけでなく明度差で見分けられるよう配慮している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6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 ・ v3.8 PRO ・ </a:t>
            </a:r>
            <a:pPr algn="r" indent="0" marL="0">
              <a:buNone/>
            </a:pPr>
            <a:r>
              <a:rPr lang="en-US" sz="9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講師用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こわれないかチェック 🔬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7772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変な入力を大量に流しても落ちないことを確認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「設問+1ならスライド+1」のような関係で自動検証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同じ入力なら毎回まったく同じ結果になる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6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 ・ v3.8 PRO ・ </a:t>
            </a:r>
            <a:pPr algn="r" indent="0" marL="0">
              <a:buNone/>
            </a:pPr>
            <a:r>
              <a:rPr lang="en-US" sz="9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講師用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 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680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1D7D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小さな困りごとを、持ち運べる小さな道具で片づける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1D7D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まずは触ってみる → 自分の研修で1枚だけ作ってみる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1D7D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困ったら、うさうさ先生まで気軽にどうぞ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9776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8FB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面白きこともなき世を面白く。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0" y="3931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🐰 うさうさ先生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技術勉強会 新人向け 講師用</dc:title>
  <dc:subject>PptxGenJS Presentation</dc:subject>
  <dc:creator>うさうさ研修工房</dc:creator>
  <cp:lastModifiedBy>うさうさ研修工房</cp:lastModifiedBy>
  <cp:revision>1</cp:revision>
  <dcterms:created xsi:type="dcterms:W3CDTF">2026-06-23T01:09:19Z</dcterms:created>
  <dcterms:modified xsi:type="dcterms:W3CDTF">2026-06-23T01:09:19Z</dcterms:modified>
</cp:coreProperties>
</file>