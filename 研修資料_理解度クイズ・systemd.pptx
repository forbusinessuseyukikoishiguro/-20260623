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latin typeface="+mj-ea"/>
        </a:defRPr>
      </a:lvl1pPr>
    </p:titleStyle>
    <p:bodyStyle>
      <a:lvl1pPr>
        <a:defRPr sz="1800">
          <a:latin typeface="+mn-ea"/>
        </a:defRPr>
      </a:lvl1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1F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accentbar"/>
          <p:cNvSpPr/>
          <p:nvPr/>
        </p:nvSpPr>
        <p:spPr>
          <a:xfrm>
            <a:off x="822960" y="2468880"/>
            <a:ext cx="2011680" cy="109728"/>
          </a:xfrm>
          <a:prstGeom prst="rect">
            <a:avLst/>
          </a:prstGeom>
          <a:solidFill>
            <a:srgbClr val="5A5FA3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yebrow"/>
          <p:cNvSpPr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400" b="1" dirty="0">
                <a:solidFill>
                  <a:srgbClr val="5A5FA3"/>
                </a:solidFill>
                <a:latin typeface="Noto Sans CJK JP"/>
                <a:ea typeface="Noto Sans CJK JP"/>
              </a:rPr>
              <a:t>QUIZ ・ 理解度クイズ ❓</a:t>
            </a:r>
          </a:p>
        </p:txBody>
      </p:sp>
      <p:sp>
        <p:nvSpPr>
          <p:cNvPr id="6" name="h1"/>
          <p:cNvSpPr/>
          <p:nvPr/>
        </p:nvSpPr>
        <p:spPr>
          <a:xfrm>
            <a:off x="822960" y="1828800"/>
            <a:ext cx="9601200" cy="201168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4000" b="1" dirty="0">
                <a:solidFill>
                  <a:srgbClr val="86272F"/>
                </a:solidFill>
                <a:latin typeface="Noto Sans CJK JP"/>
                <a:ea typeface="Noto Sans CJK JP"/>
              </a:rPr>
              <a:t>理解度クイズ ・ systemd</a:t>
            </a:r>
          </a:p>
        </p:txBody>
      </p:sp>
      <p:sp>
        <p:nvSpPr>
          <p:cNvPr id="7" name="sub"/>
          <p:cNvSpPr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800" dirty="0">
                <a:solidFill>
                  <a:srgbClr val="49272A"/>
                </a:solidFill>
                <a:latin typeface="Noto Sans CJK JP"/>
                <a:ea typeface="Noto Sans CJK JP"/>
              </a:rPr>
              <a:t>講師用（答えつき） 🐰</a:t>
            </a:r>
          </a:p>
        </p:txBody>
      </p:sp>
      <p:sp>
        <p:nvSpPr>
          <p:cNvPr id="98" name="stamp"/>
          <p:cNvSpPr/>
          <p:nvPr/>
        </p:nvSpPr>
        <p:spPr>
          <a:xfrm>
            <a:off x="7955280" y="641908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 algn="r"/>
            <a:r>
              <a:rPr lang="ja-JP" sz="900" dirty="0">
                <a:solidFill>
                  <a:srgbClr val="B7A99B"/>
                </a:solidFill>
                <a:latin typeface="Noto Sans CJK JP"/>
                <a:ea typeface="Noto Sans CJK JP"/>
              </a:rPr>
              <a:t>うさうさ研修工房 v3.8 PRO ・ 2026-06-23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1F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nd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5FA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理解度クイズ ・ Q1</a:t>
            </a:r>
          </a:p>
        </p:txBody>
      </p:sp>
      <p:sp>
        <p:nvSpPr>
          <p:cNvPr id="5" name="qbox"/>
          <p:cNvSpPr/>
          <p:nvPr/>
        </p:nvSpPr>
        <p:spPr>
          <a:xfrm>
            <a:off x="640080" y="960120"/>
            <a:ext cx="10789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FA3"/>
            </a:solidFill>
          </a:ln>
        </p:spPr>
        <p:txBody>
          <a:bodyPr lIns="274320" tIns="182880" rIns="274320" bIns="182880" anchor="ctr" wrap="square">
            <a:normAutofit/>
          </a:bodyPr>
          <a:lstStyle/>
          <a:p>
            <a:pPr/>
            <a:r>
              <a:rPr lang="ja-JP" sz="2200" b="1" dirty="0">
                <a:solidFill>
                  <a:srgbClr val="86272F"/>
                </a:solidFill>
                <a:latin typeface="Noto Sans CJK JP"/>
                <a:ea typeface="Noto Sans CJK JP"/>
              </a:rPr>
              <a:t>Q1　サービスを起動時に自動起動させるコマンドは？</a:t>
            </a:r>
          </a:p>
        </p:txBody>
      </p:sp>
      <p:sp>
        <p:nvSpPr>
          <p:cNvPr id="6" name="hint"/>
          <p:cNvSpPr/>
          <p:nvPr/>
        </p:nvSpPr>
        <p:spPr>
          <a:xfrm>
            <a:off x="731520" y="25146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400" b="1" dirty="0">
                <a:solidFill>
                  <a:srgbClr val="5A5FA3"/>
                </a:solidFill>
                <a:latin typeface="Noto Sans CJK JP"/>
                <a:ea typeface="Noto Sans CJK JP"/>
              </a:rPr>
              <a:t>💡 ヒント：enable が鍵。今すぐ起動も含めるなら？</a:t>
            </a:r>
          </a:p>
        </p:txBody>
      </p:sp>
      <p:sp>
        <p:nvSpPr>
          <p:cNvPr id="7" name="alabel"/>
          <p:cNvSpPr/>
          <p:nvPr/>
        </p:nvSpPr>
        <p:spPr>
          <a:xfrm>
            <a:off x="731520" y="3154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答え</a:t>
            </a:r>
          </a:p>
        </p:txBody>
      </p:sp>
      <p:sp>
        <p:nvSpPr>
          <p:cNvPr id="8" name="ans"/>
          <p:cNvSpPr/>
          <p:nvPr/>
        </p:nvSpPr>
        <p:spPr>
          <a:xfrm>
            <a:off x="731520" y="3566160"/>
            <a:ext cx="10607040" cy="18288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600" dirty="0">
                <a:solidFill>
                  <a:srgbClr val="49272A"/>
                </a:solidFill>
                <a:latin typeface="Noto Sans CJK JP"/>
                <a:ea typeface="Noto Sans CJK JP"/>
              </a:rPr>
              <a:t>systemctl enable --now &lt;サービス&gt;</a:t>
            </a:r>
          </a:p>
        </p:txBody>
      </p:sp>
      <p:sp>
        <p:nvSpPr>
          <p:cNvPr id="98" name="stamp"/>
          <p:cNvSpPr/>
          <p:nvPr/>
        </p:nvSpPr>
        <p:spPr>
          <a:xfrm>
            <a:off x="7955280" y="641908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 algn="r"/>
            <a:r>
              <a:rPr lang="ja-JP" sz="900" dirty="0">
                <a:solidFill>
                  <a:srgbClr val="B7A99B"/>
                </a:solidFill>
                <a:latin typeface="Noto Sans CJK JP"/>
                <a:ea typeface="Noto Sans CJK JP"/>
              </a:rPr>
              <a:t>うさうさ研修工房 v3.8 PRO ・ 2026-06-23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1F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nd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5FA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理解度クイズ ・ Q2</a:t>
            </a:r>
          </a:p>
        </p:txBody>
      </p:sp>
      <p:sp>
        <p:nvSpPr>
          <p:cNvPr id="5" name="qbox"/>
          <p:cNvSpPr/>
          <p:nvPr/>
        </p:nvSpPr>
        <p:spPr>
          <a:xfrm>
            <a:off x="640080" y="960120"/>
            <a:ext cx="10789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FA3"/>
            </a:solidFill>
          </a:ln>
        </p:spPr>
        <p:txBody>
          <a:bodyPr lIns="274320" tIns="182880" rIns="274320" bIns="182880" anchor="ctr" wrap="square">
            <a:normAutofit/>
          </a:bodyPr>
          <a:lstStyle/>
          <a:p>
            <a:pPr/>
            <a:r>
              <a:rPr lang="ja-JP" sz="2200" b="1" dirty="0">
                <a:solidFill>
                  <a:srgbClr val="86272F"/>
                </a:solidFill>
                <a:latin typeface="Noto Sans CJK JP"/>
                <a:ea typeface="Noto Sans CJK JP"/>
              </a:rPr>
              <a:t>Q2　サービスのログだけを見るには？</a:t>
            </a:r>
          </a:p>
        </p:txBody>
      </p:sp>
      <p:sp>
        <p:nvSpPr>
          <p:cNvPr id="6" name="hint"/>
          <p:cNvSpPr/>
          <p:nvPr/>
        </p:nvSpPr>
        <p:spPr>
          <a:xfrm>
            <a:off x="731520" y="25146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400" b="1" dirty="0">
                <a:solidFill>
                  <a:srgbClr val="5A5FA3"/>
                </a:solidFill>
                <a:latin typeface="Noto Sans CJK JP"/>
                <a:ea typeface="Noto Sans CJK JP"/>
              </a:rPr>
              <a:t>💡 ヒント：journal を service で絞る</a:t>
            </a:r>
          </a:p>
        </p:txBody>
      </p:sp>
      <p:sp>
        <p:nvSpPr>
          <p:cNvPr id="7" name="alabel"/>
          <p:cNvSpPr/>
          <p:nvPr/>
        </p:nvSpPr>
        <p:spPr>
          <a:xfrm>
            <a:off x="731520" y="3154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答え</a:t>
            </a:r>
          </a:p>
        </p:txBody>
      </p:sp>
      <p:sp>
        <p:nvSpPr>
          <p:cNvPr id="8" name="ans"/>
          <p:cNvSpPr/>
          <p:nvPr/>
        </p:nvSpPr>
        <p:spPr>
          <a:xfrm>
            <a:off x="731520" y="3566160"/>
            <a:ext cx="10607040" cy="18288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600" dirty="0">
                <a:solidFill>
                  <a:srgbClr val="49272A"/>
                </a:solidFill>
                <a:latin typeface="Noto Sans CJK JP"/>
                <a:ea typeface="Noto Sans CJK JP"/>
              </a:rPr>
              <a:t>journalctl -u &lt;サービス&gt;</a:t>
            </a:r>
          </a:p>
        </p:txBody>
      </p:sp>
      <p:sp>
        <p:nvSpPr>
          <p:cNvPr id="98" name="stamp"/>
          <p:cNvSpPr/>
          <p:nvPr/>
        </p:nvSpPr>
        <p:spPr>
          <a:xfrm>
            <a:off x="7955280" y="641908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 algn="r"/>
            <a:r>
              <a:rPr lang="ja-JP" sz="900" dirty="0">
                <a:solidFill>
                  <a:srgbClr val="B7A99B"/>
                </a:solidFill>
                <a:latin typeface="Noto Sans CJK JP"/>
                <a:ea typeface="Noto Sans CJK JP"/>
              </a:rPr>
              <a:t>うさうさ研修工房 v3.8 PRO ・ 2026-06-23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1F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nd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5FA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理解度クイズ ・ Q3</a:t>
            </a:r>
          </a:p>
        </p:txBody>
      </p:sp>
      <p:sp>
        <p:nvSpPr>
          <p:cNvPr id="5" name="qbox"/>
          <p:cNvSpPr/>
          <p:nvPr/>
        </p:nvSpPr>
        <p:spPr>
          <a:xfrm>
            <a:off x="640080" y="960120"/>
            <a:ext cx="10789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FA3"/>
            </a:solidFill>
          </a:ln>
        </p:spPr>
        <p:txBody>
          <a:bodyPr lIns="274320" tIns="182880" rIns="274320" bIns="182880" anchor="ctr" wrap="square">
            <a:normAutofit/>
          </a:bodyPr>
          <a:lstStyle/>
          <a:p>
            <a:pPr/>
            <a:r>
              <a:rPr lang="ja-JP" sz="2200" b="1" dirty="0">
                <a:solidFill>
                  <a:srgbClr val="86272F"/>
                </a:solidFill>
                <a:latin typeface="Noto Sans CJK JP"/>
                <a:ea typeface="Noto Sans CJK JP"/>
              </a:rPr>
              <a:t>Q3　設定変更を反映させる前に必要な操作は？</a:t>
            </a:r>
          </a:p>
        </p:txBody>
      </p:sp>
      <p:sp>
        <p:nvSpPr>
          <p:cNvPr id="6" name="hint"/>
          <p:cNvSpPr/>
          <p:nvPr/>
        </p:nvSpPr>
        <p:spPr>
          <a:xfrm>
            <a:off x="731520" y="25146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400" b="1" dirty="0">
                <a:solidFill>
                  <a:srgbClr val="5A5FA3"/>
                </a:solidFill>
                <a:latin typeface="Noto Sans CJK JP"/>
                <a:ea typeface="Noto Sans CJK JP"/>
              </a:rPr>
              <a:t>💡 ヒント：設定の読み直し</a:t>
            </a:r>
          </a:p>
        </p:txBody>
      </p:sp>
      <p:sp>
        <p:nvSpPr>
          <p:cNvPr id="7" name="alabel"/>
          <p:cNvSpPr/>
          <p:nvPr/>
        </p:nvSpPr>
        <p:spPr>
          <a:xfrm>
            <a:off x="731520" y="3154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答え</a:t>
            </a:r>
          </a:p>
        </p:txBody>
      </p:sp>
      <p:sp>
        <p:nvSpPr>
          <p:cNvPr id="8" name="ans"/>
          <p:cNvSpPr/>
          <p:nvPr/>
        </p:nvSpPr>
        <p:spPr>
          <a:xfrm>
            <a:off x="731520" y="3566160"/>
            <a:ext cx="10607040" cy="18288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600" dirty="0">
                <a:solidFill>
                  <a:srgbClr val="49272A"/>
                </a:solidFill>
                <a:latin typeface="Noto Sans CJK JP"/>
                <a:ea typeface="Noto Sans CJK JP"/>
              </a:rPr>
              <a:t>systemctl daemon-reload</a:t>
            </a:r>
          </a:p>
        </p:txBody>
      </p:sp>
      <p:sp>
        <p:nvSpPr>
          <p:cNvPr id="98" name="stamp"/>
          <p:cNvSpPr/>
          <p:nvPr/>
        </p:nvSpPr>
        <p:spPr>
          <a:xfrm>
            <a:off x="7955280" y="641908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 algn="r"/>
            <a:r>
              <a:rPr lang="ja-JP" sz="900" dirty="0">
                <a:solidFill>
                  <a:srgbClr val="B7A99B"/>
                </a:solidFill>
                <a:latin typeface="Noto Sans CJK JP"/>
                <a:ea typeface="Noto Sans CJK JP"/>
              </a:rPr>
              <a:t>うさうさ研修工房 v3.8 PRO ・ 2026-06-23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Usausa">
  <a:themeElements>
    <a:clrScheme name="Usausa">
      <a:dk1>
        <a:srgbClr val="49272A"/>
      </a:dk1>
      <a:lt1>
        <a:srgbClr val="FFFFFF"/>
      </a:lt1>
      <a:dk2>
        <a:srgbClr val="86272F"/>
      </a:dk2>
      <a:lt2>
        <a:srgbClr val="F9F1F1"/>
      </a:lt2>
      <a:accent1>
        <a:srgbClr val="5A5FA3"/>
      </a:accent1>
      <a:accent2>
        <a:srgbClr val="86272F"/>
      </a:accent2>
      <a:accent3>
        <a:srgbClr val="7C9A6B"/>
      </a:accent3>
      <a:accent4>
        <a:srgbClr val="C9A24B"/>
      </a:accent4>
      <a:accent5>
        <a:srgbClr val="6B4E37"/>
      </a:accent5>
      <a:accent6>
        <a:srgbClr val="7A2E3F"/>
      </a:accent6>
      <a:hlink>
        <a:srgbClr val="0563C1"/>
      </a:hlink>
      <a:folHlink>
        <a:srgbClr val="954F72"/>
      </a:folHlink>
    </a:clrScheme>
    <a:fontScheme name="Usausa">
      <a:majorFont>
        <a:latin typeface="Noto Sans CJK JP"/>
        <a:ea typeface="Noto Sans CJK JP"/>
        <a:cs typeface=""/>
      </a:majorFont>
      <a:minorFont>
        <a:latin typeface="Noto Sans CJK JP"/>
        <a:ea typeface="Noto Sans CJK JP"/>
        <a:cs typeface=""/>
      </a:minorFont>
    </a:fontScheme>
    <a:fmtScheme name="Usau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うさうさ研修資料ジェネレーター</Application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理解度クイズ ・ systemd</dc:title>
  <dc:creator>うさうさ研修工房</dc:creator>
  <cp:lastModifiedBy>うさうさ研修工房</cp:lastModifiedBy>
</cp:coreProperties>
</file>